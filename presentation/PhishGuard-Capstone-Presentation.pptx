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PhishGuard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800" b="1"/>
            </a:pPr>
            <a:r>
              <a:t>Think Before You Click</a:t>
            </a:r>
          </a:p>
          <a:p>
            <a:pPr>
              <a:spcAft>
                <a:spcPts val="1300"/>
              </a:spcAft>
              <a:defRPr sz="2100"/>
            </a:pPr>
            <a:r>
              <a:t>A practical phishing awareness and education kit</a:t>
            </a:r>
          </a:p>
          <a:p>
            <a:pPr>
              <a:spcAft>
                <a:spcPts val="1300"/>
              </a:spcAft>
              <a:defRPr sz="2100"/>
            </a:pPr>
            <a:r>
              <a:t>NextGen Capstone Project</a:t>
            </a:r>
            <a:br/>
            <a:r>
              <a:t>Joshua Oke Osiogo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Phishing attempts to manipulate users into clicking links, opening attachments, sharing sensitive information, revealing authentication information, or making fraudulent payments.</a:t>
            </a:r>
          </a:p>
          <a:p>
            <a:pPr>
              <a:spcAft>
                <a:spcPts val="1300"/>
              </a:spcAft>
              <a:defRPr sz="2100"/>
            </a:pPr>
            <a:r>
              <a:t>Cybersecurity is not only a technical problem. Human decision-making is also an important part of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t>Teach users how phishing works.</a:t>
            </a:r>
          </a:p>
          <a:p>
            <a:pPr>
              <a:spcAft>
                <a:spcPts val="1300"/>
              </a:spcAft>
              <a:defRPr sz="1800"/>
            </a:pPr>
            <a:r>
              <a:t>Help users recognize common warning signs.</a:t>
            </a:r>
          </a:p>
          <a:p>
            <a:pPr>
              <a:spcAft>
                <a:spcPts val="1300"/>
              </a:spcAft>
              <a:defRPr sz="1800"/>
            </a:pPr>
            <a:r>
              <a:t>Provide practical phishing identification exercises.</a:t>
            </a:r>
          </a:p>
          <a:p>
            <a:pPr>
              <a:spcAft>
                <a:spcPts val="1300"/>
              </a:spcAft>
              <a:defRPr sz="1800"/>
            </a:pPr>
            <a:r>
              <a:t>Teach users how to respond safely.</a:t>
            </a:r>
          </a:p>
          <a:p>
            <a:pPr>
              <a:spcAft>
                <a:spcPts val="1300"/>
              </a:spcAft>
              <a:defRPr sz="1800"/>
            </a:pPr>
            <a:r>
              <a:t>Provide quick-reference guidance.</a:t>
            </a:r>
          </a:p>
          <a:p>
            <a:pPr>
              <a:spcAft>
                <a:spcPts val="1300"/>
              </a:spcAft>
              <a:defRPr sz="1800"/>
            </a:pPr>
            <a:r>
              <a:t>Measure awareness and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PhishGuard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STOP — Don't rush or interact immediately.</a:t>
            </a:r>
          </a:p>
          <a:p>
            <a:pPr>
              <a:spcAft>
                <a:spcPts val="1300"/>
              </a:spcAft>
              <a:defRPr sz="2100"/>
            </a:pPr>
            <a:r>
              <a:t>CHECK — Examine the sender, request, urgency, links and attachments.</a:t>
            </a:r>
          </a:p>
          <a:p>
            <a:pPr>
              <a:spcAft>
                <a:spcPts val="1300"/>
              </a:spcAft>
              <a:defRPr sz="2100"/>
            </a:pPr>
            <a:r>
              <a:t>VERIFY — Confirm through an independently trusted channel.</a:t>
            </a:r>
          </a:p>
          <a:p>
            <a:pPr>
              <a:spcAft>
                <a:spcPts val="1300"/>
              </a:spcAft>
              <a:defRPr sz="2100"/>
            </a:pPr>
            <a:r>
              <a:t>REPORT — Use the appropriate reporting procedure.</a:t>
            </a:r>
          </a:p>
          <a:p>
            <a:pPr>
              <a:spcAft>
                <a:spcPts val="1300"/>
              </a:spcAft>
              <a:defRPr sz="2100"/>
            </a:pPr>
            <a:r>
              <a:t>Core message: When in doubt, don't click.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Phishing Awareness Guide — explains phishing, warning signs, social engineering and safe responses.</a:t>
            </a:r>
          </a:p>
          <a:p>
            <a:pPr>
              <a:spcAft>
                <a:spcPts val="1300"/>
              </a:spcAft>
              <a:defRPr sz="2100"/>
            </a:pPr>
            <a:r>
              <a:t>Spot-the-Phish Exercise — fictional scenarios for identifying suspicious messages.</a:t>
            </a:r>
          </a:p>
          <a:p>
            <a:pPr>
              <a:spcAft>
                <a:spcPts val="1300"/>
              </a:spcAft>
              <a:defRPr sz="2100"/>
            </a:pPr>
            <a:r>
              <a:t>Response Quick Card — immediate guidance for suspicious content.</a:t>
            </a:r>
          </a:p>
          <a:p>
            <a:pPr>
              <a:spcAft>
                <a:spcPts val="1300"/>
              </a:spcAft>
              <a:defRPr sz="2100"/>
            </a:pPr>
            <a:r>
              <a:t>Awareness Poster — key prevention messages in a visual format.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Measuring Awareness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10-question Phishing Awareness Quiz covering indicators, links, attachments, verification codes, social engineering and reporting.</a:t>
            </a:r>
          </a:p>
          <a:p>
            <a:pPr>
              <a:spcAft>
                <a:spcPts val="1300"/>
              </a:spcAft>
              <a:defRPr sz="2100"/>
            </a:pPr>
            <a:r>
              <a:t>Pre/Post Awareness Assessment designed to compare awareness before and after training.</a:t>
            </a:r>
          </a:p>
          <a:p>
            <a:pPr>
              <a:spcAft>
                <a:spcPts val="1300"/>
              </a:spcAft>
              <a:defRPr sz="2100"/>
            </a:pPr>
            <a:r>
              <a:t>The framework can measure knowledge, confidence and ability to identify suspicious 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Can You Spot the Phish?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SUBJECT: URGENT — Your account will be suspended today</a:t>
            </a:r>
          </a:p>
          <a:p>
            <a:pPr>
              <a:spcAft>
                <a:spcPts val="1300"/>
              </a:spcAft>
              <a:defRPr sz="2100"/>
            </a:pPr>
            <a:r>
              <a:t>Warning signs: urgency • unexpected verification • threat of suspension • possible sensitive-information request</a:t>
            </a:r>
          </a:p>
          <a:p>
            <a:pPr>
              <a:spcAft>
                <a:spcPts val="1300"/>
              </a:spcAft>
              <a:defRPr sz="2100"/>
            </a:pPr>
            <a:r>
              <a:t>Correct response: STOP → CHECK → VERIFY → REPORT</a:t>
            </a:r>
          </a:p>
          <a:p>
            <a:pPr>
              <a:spcAft>
                <a:spcPts val="1300"/>
              </a:spcAft>
              <a:defRPr sz="2100"/>
            </a:pPr>
            <a:r>
              <a:t>Do not click the suspicious link.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1. Research — review reputable phishing-awareness guidance.</a:t>
            </a:r>
          </a:p>
          <a:p>
            <a:pPr>
              <a:spcAft>
                <a:spcPts val="1300"/>
              </a:spcAft>
              <a:defRPr sz="2100"/>
            </a:pPr>
            <a:r>
              <a:t>2. Content Development — convert findings into accessible materials.</a:t>
            </a:r>
          </a:p>
          <a:p>
            <a:pPr>
              <a:spcAft>
                <a:spcPts val="1300"/>
              </a:spcAft>
              <a:defRPr sz="2100"/>
            </a:pPr>
            <a:r>
              <a:t>3. Practical Exercises — create fictional phishing scenarios.</a:t>
            </a:r>
          </a:p>
          <a:p>
            <a:pPr>
              <a:spcAft>
                <a:spcPts val="1300"/>
              </a:spcAft>
              <a:defRPr sz="2100"/>
            </a:pPr>
            <a:r>
              <a:t>4. Assessment — develop quiz and pre/post assessment.</a:t>
            </a:r>
          </a:p>
          <a:p>
            <a:pPr>
              <a:spcAft>
                <a:spcPts val="1300"/>
              </a:spcAft>
              <a:defRPr sz="2100"/>
            </a:pPr>
            <a:r>
              <a:t>5. Evaluation — define how awareness improvement will be measured.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Evaluation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t>Pre-training awareness</a:t>
            </a:r>
          </a:p>
          <a:p>
            <a:pPr>
              <a:spcAft>
                <a:spcPts val="1300"/>
              </a:spcAft>
              <a:defRPr sz="1800"/>
            </a:pPr>
            <a:r>
              <a:t>Post-training awareness</a:t>
            </a:r>
          </a:p>
          <a:p>
            <a:pPr>
              <a:spcAft>
                <a:spcPts val="1300"/>
              </a:spcAft>
              <a:defRPr sz="1800"/>
            </a:pPr>
            <a:r>
              <a:t>Knowledge quiz scores</a:t>
            </a:r>
          </a:p>
          <a:p>
            <a:pPr>
              <a:spcAft>
                <a:spcPts val="1300"/>
              </a:spcAft>
              <a:defRPr sz="1800"/>
            </a:pPr>
            <a:r>
              <a:t>Correct identification of suspicious scenarios</a:t>
            </a:r>
          </a:p>
          <a:p>
            <a:pPr>
              <a:spcAft>
                <a:spcPts val="1300"/>
              </a:spcAft>
              <a:defRPr sz="1800"/>
            </a:pPr>
            <a:r>
              <a:t>Confidence in responding to phishing</a:t>
            </a:r>
          </a:p>
          <a:p>
            <a:pPr>
              <a:spcAft>
                <a:spcPts val="1300"/>
              </a:spcAft>
              <a:defRPr sz="1800"/>
            </a:pPr>
            <a:r>
              <a:t>Understanding of reporting procedures</a:t>
            </a:r>
          </a:p>
          <a:p>
            <a:pPr>
              <a:spcAft>
                <a:spcPts val="1300"/>
              </a:spcAft>
              <a:defRPr sz="1800"/>
            </a:pPr>
            <a:r>
              <a:t>Only actual participant results will be reported; no fabricated statistics.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Sample size may be limited.</a:t>
            </a:r>
          </a:p>
          <a:p>
            <a:pPr>
              <a:spcAft>
                <a:spcPts val="1300"/>
              </a:spcAft>
              <a:defRPr sz="2100"/>
            </a:pPr>
            <a:r>
              <a:t>A short evaluation period may not demonstrate long-term behavior change.</a:t>
            </a:r>
          </a:p>
          <a:p>
            <a:pPr>
              <a:spcAft>
                <a:spcPts val="1300"/>
              </a:spcAft>
              <a:defRPr sz="2100"/>
            </a:pPr>
            <a:r>
              <a:t>Fictional scenarios cannot represent every real-world phishing technique.</a:t>
            </a:r>
          </a:p>
          <a:p>
            <a:pPr>
              <a:spcAft>
                <a:spcPts val="1300"/>
              </a:spcAft>
              <a:defRPr sz="2100"/>
            </a:pPr>
            <a:r>
              <a:t>Awareness training reduces risk but cannot guarantee users will always recognize phishing.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t>Conduct awareness training regularly.</a:t>
            </a:r>
          </a:p>
          <a:p>
            <a:pPr>
              <a:spcAft>
                <a:spcPts val="1300"/>
              </a:spcAft>
              <a:defRPr sz="1800"/>
            </a:pPr>
            <a:r>
              <a:t>Make phishing reporting simple and accessible.</a:t>
            </a:r>
          </a:p>
          <a:p>
            <a:pPr>
              <a:spcAft>
                <a:spcPts val="1300"/>
              </a:spcAft>
              <a:defRPr sz="1800"/>
            </a:pPr>
            <a:r>
              <a:t>Reinforce STOP → CHECK → VERIFY → REPORT.</a:t>
            </a:r>
          </a:p>
          <a:p>
            <a:pPr>
              <a:spcAft>
                <a:spcPts val="1300"/>
              </a:spcAft>
              <a:defRPr sz="1800"/>
            </a:pPr>
            <a:r>
              <a:t>Promote multi-factor authentication.</a:t>
            </a:r>
          </a:p>
          <a:p>
            <a:pPr>
              <a:spcAft>
                <a:spcPts val="1300"/>
              </a:spcAft>
              <a:defRPr sz="1800"/>
            </a:pPr>
            <a:r>
              <a:t>Independently verify unusual requests.</a:t>
            </a:r>
          </a:p>
          <a:p>
            <a:pPr>
              <a:spcAft>
                <a:spcPts val="1300"/>
              </a:spcAft>
              <a:defRPr sz="1800"/>
            </a:pPr>
            <a:r>
              <a:t>Keep awareness materials updated as phishing techniques evolve.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05156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PhishGuard addresses the human side of cybersecurity through education, practical exercises, quick-reference guidance and assessment.</a:t>
            </a:r>
          </a:p>
          <a:p>
            <a:pPr>
              <a:spcAft>
                <a:spcPts val="1300"/>
              </a:spcAft>
              <a:defRPr sz="2100"/>
            </a:pPr>
            <a:r>
              <a:t>Goal: help users become more confident and cautious when handling suspicious digital communications.</a:t>
            </a:r>
          </a:p>
          <a:p>
            <a:pPr>
              <a:spcAft>
                <a:spcPts val="1300"/>
              </a:spcAft>
              <a:defRPr sz="2100"/>
            </a:pPr>
            <a:r>
              <a:t>STOP → CHECK → VERIFY → REPORT</a:t>
            </a:r>
          </a:p>
          <a:p>
            <a:pPr>
              <a:spcAft>
                <a:spcPts val="1300"/>
              </a:spcAft>
              <a:defRPr sz="2100"/>
            </a:pPr>
            <a: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PhishGuard • NextGen Capstone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